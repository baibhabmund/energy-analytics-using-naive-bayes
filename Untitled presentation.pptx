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45a8edb2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a45a8edb2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45a8edb2a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45a8edb2a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cfdcec85e260ab2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cfdcec85e260ab2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45a8edb2a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45a8edb2a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45a8edb2a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45a8edb2a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cfdcec85e260ab2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cfdcec85e260ab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45a8edb2a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45a8edb2a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45a8edb2a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45a8edb2a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cfdcec85e260ab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cfdcec85e260ab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cfdcec85e260ab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cfdcec85e260ab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cfdcec85e260ab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cfdcec85e260ab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580"/>
              <a:t>TOPIC - ENERGY ANALYTICS USING NAIVE-BAYES </a:t>
            </a:r>
            <a:endParaRPr sz="35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INT315 - CLUSTER COMPUTING 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471900" y="3879575"/>
            <a:ext cx="83604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BY - BAIBHAB MUND 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REDG NO - 12213120 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ROLL NO - 58                                                     					      	GUIDED BY: 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SECTION – K22ZC                                                   					ZEENAT ZAHARA MA’AM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90500"/>
            <a:ext cx="2439722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1477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Project Description:</a:t>
            </a:r>
            <a:endParaRPr b="1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2290000"/>
            <a:ext cx="8520600" cy="24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project applies </a:t>
            </a:r>
            <a:r>
              <a:rPr b="1" lang="en"/>
              <a:t>Naive Bayes</a:t>
            </a:r>
            <a:r>
              <a:rPr lang="en"/>
              <a:t> techniques to analyze and enhance decision-making in the field of energy analytics.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focuses on understanding energy consumption behavior, identifying trends, and building a data-driven predictive model using a real-world dataset.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Dataset</a:t>
            </a:r>
            <a:r>
              <a:rPr lang="en"/>
              <a:t> - World Energy Consumption (Source - Kaggle)</a:t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90500"/>
            <a:ext cx="2439722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1307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Objectives</a:t>
            </a:r>
            <a:r>
              <a:rPr lang="en"/>
              <a:t>: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2069425"/>
            <a:ext cx="8520600" cy="24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Acquire and clean the energy dataset, removing nulls and inconsistencies.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Conduct exploratory data analysis to identify key trends.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 a </a:t>
            </a:r>
            <a:r>
              <a:rPr b="1" lang="en"/>
              <a:t>Naive Bayes model</a:t>
            </a:r>
            <a:r>
              <a:rPr lang="en"/>
              <a:t> to classify high and low energy consumption patterns.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Visualize and interpret the results effectively (Dashboard Creation).</a:t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90500"/>
            <a:ext cx="2439722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Libraries: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from pyspark.sql import SparkSession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from pyspark.sql.functions import col, when, median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from pyspark.sql.types import DoubleType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from pyspark.ml.feature import VectorAssembler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from pyspark.ml.classification import NaiveBayes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from pyspark.ml import Pipeline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from pyspark.ml.tuning import ParamGridBuilder, CrossValidator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from pyspark.ml.evaluation import MulticlassClassificationEvaluator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90500"/>
            <a:ext cx="2439722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983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Methodology: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555800"/>
            <a:ext cx="8520600" cy="34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5718">
                <a:solidFill>
                  <a:schemeClr val="dk1"/>
                </a:solidFill>
                <a:highlight>
                  <a:schemeClr val="accent6"/>
                </a:highlight>
              </a:rPr>
              <a:t>df = spark.read.csv("D:\Academics\Cluster Project\World Energy Consumption.csv", header=True, inferSchema=True)</a:t>
            </a:r>
            <a:endParaRPr b="1" sz="5718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5718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5718">
                <a:solidFill>
                  <a:schemeClr val="dk1"/>
                </a:solidFill>
                <a:highlight>
                  <a:schemeClr val="accent6"/>
                </a:highlight>
              </a:rPr>
              <a:t>for c in all_cols:</a:t>
            </a:r>
            <a:endParaRPr b="1" sz="5718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5718">
                <a:solidFill>
                  <a:schemeClr val="dk1"/>
                </a:solidFill>
                <a:highlight>
                  <a:schemeClr val="accent6"/>
                </a:highlight>
              </a:rPr>
              <a:t>    df = df.withColumn(c, col(c).cast(DoubleType()))</a:t>
            </a:r>
            <a:endParaRPr b="1" sz="5718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5718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5718">
                <a:solidFill>
                  <a:schemeClr val="dk1"/>
                </a:solidFill>
                <a:highlight>
                  <a:schemeClr val="accent6"/>
                </a:highlight>
              </a:rPr>
              <a:t>df_clean = df.select(all_cols).na.drop()</a:t>
            </a:r>
            <a:endParaRPr b="1" sz="5718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571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5718"/>
              <a:t>1. Data Preparation / Cleaning: </a:t>
            </a:r>
            <a:endParaRPr b="1" sz="571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71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718"/>
              <a:t>	○ Loaded dataset using PySpark</a:t>
            </a:r>
            <a:endParaRPr sz="5718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718"/>
              <a:t>○ Converted numeric fields to DoubleType. </a:t>
            </a:r>
            <a:endParaRPr sz="5718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718"/>
              <a:t>○ Removed null or inconsistent entries.</a:t>
            </a:r>
            <a:endParaRPr sz="571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718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71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71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90500"/>
            <a:ext cx="2439722" cy="7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1375" y="3096900"/>
            <a:ext cx="4190925" cy="133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327150"/>
            <a:ext cx="8520600" cy="32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median_val = df_clean.agg(median(target_col).alias("median_val")).collect()[0]["median_val"]</a:t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df_model = df_clean.withColumn(</a:t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"lable”,</a:t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    	when(col(target_col) &gt;= median_val, 1.0).otherwise(0.0)</a:t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)</a:t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2. Feature Engineering: </a:t>
            </a:r>
            <a:endParaRPr b="1" sz="14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○ Created a binary classification label — High (≥ median) and Low (&lt; median) energy per capita. 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(Eg: target_col = energy_per_capita)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80550"/>
            <a:ext cx="2439722" cy="7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97820" y="3852245"/>
            <a:ext cx="5402275" cy="115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chemeClr val="dk1"/>
                </a:solidFill>
              </a:rPr>
              <a:t>Target Column (Label Column):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Energy_per_capita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</a:rPr>
              <a:t>Feature Columns:</a:t>
            </a:r>
            <a:endParaRPr b="1" sz="2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Population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Gdp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Fossil_fuel_consumption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</a:t>
            </a:r>
            <a:r>
              <a:rPr lang="en" sz="1300">
                <a:solidFill>
                  <a:schemeClr val="dk1"/>
                </a:solidFill>
              </a:rPr>
              <a:t>enewable _consumption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energy_per_gdp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80550"/>
            <a:ext cx="2439722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assembler = VectorAssembler(inputCols=&lt;feature_cols&gt; outputCol="features")</a:t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nb = NaiveBayes(featuresCol="features", labelCol="label", modelType="gaussian")</a:t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pipeline = Pipeline(stages=[assembler, nb])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400"/>
              <a:t>3. Model Building: </a:t>
            </a:r>
            <a:endParaRPr b="1" sz="14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○ Used Naive Bayes (Gaussian) model to classify the energy consumption category. </a:t>
            </a:r>
            <a:endParaRPr sz="14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○ Features were combined using a VectorAssembler. 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80550"/>
            <a:ext cx="2439722" cy="7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7063" y="3959275"/>
            <a:ext cx="7515225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4078200" cy="3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" sz="1425">
                <a:solidFill>
                  <a:schemeClr val="dk1"/>
                </a:solidFill>
                <a:highlight>
                  <a:schemeClr val="accent6"/>
                </a:highlight>
              </a:rPr>
              <a:t>paramGrid = ParamGridBuilder() \</a:t>
            </a:r>
            <a:endParaRPr b="1" sz="1425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" sz="1425">
                <a:solidFill>
                  <a:schemeClr val="dk1"/>
                </a:solidFill>
                <a:highlight>
                  <a:schemeClr val="accent6"/>
                </a:highlight>
              </a:rPr>
              <a:t>    .addGrid(nb.smoothing, [0.0, 0.1, 0.5, 1.0]) \</a:t>
            </a:r>
            <a:endParaRPr b="1" sz="1425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" sz="1425">
                <a:solidFill>
                  <a:schemeClr val="dk1"/>
                </a:solidFill>
                <a:highlight>
                  <a:schemeClr val="accent6"/>
                </a:highlight>
              </a:rPr>
              <a:t>    .build()</a:t>
            </a:r>
            <a:endParaRPr b="1" sz="1425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t/>
            </a:r>
            <a:endParaRPr b="1" sz="1425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" sz="1425">
                <a:solidFill>
                  <a:schemeClr val="dk1"/>
                </a:solidFill>
                <a:highlight>
                  <a:schemeClr val="accent6"/>
                </a:highlight>
              </a:rPr>
              <a:t>cv = CrossValidator(</a:t>
            </a:r>
            <a:endParaRPr b="1" sz="1425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" sz="1425">
                <a:solidFill>
                  <a:schemeClr val="dk1"/>
                </a:solidFill>
                <a:highlight>
                  <a:schemeClr val="accent6"/>
                </a:highlight>
              </a:rPr>
              <a:t>    estimator=pipeline,</a:t>
            </a:r>
            <a:endParaRPr b="1" sz="1425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" sz="1425">
                <a:solidFill>
                  <a:schemeClr val="dk1"/>
                </a:solidFill>
                <a:highlight>
                  <a:schemeClr val="accent6"/>
                </a:highlight>
              </a:rPr>
              <a:t>    estimatorParamMaps=paramGrid,</a:t>
            </a:r>
            <a:endParaRPr b="1" sz="1425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" sz="1425">
                <a:solidFill>
                  <a:schemeClr val="dk1"/>
                </a:solidFill>
                <a:highlight>
                  <a:schemeClr val="accent6"/>
                </a:highlight>
              </a:rPr>
              <a:t>    evaluator=evaluator,</a:t>
            </a:r>
            <a:endParaRPr b="1" sz="1425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" sz="1425">
                <a:solidFill>
                  <a:schemeClr val="dk1"/>
                </a:solidFill>
                <a:highlight>
                  <a:schemeClr val="accent6"/>
                </a:highlight>
              </a:rPr>
              <a:t>    numFolds=5,</a:t>
            </a:r>
            <a:endParaRPr b="1" sz="1425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" sz="1425">
                <a:solidFill>
                  <a:schemeClr val="dk1"/>
                </a:solidFill>
                <a:highlight>
                  <a:schemeClr val="accent6"/>
                </a:highlight>
              </a:rPr>
              <a:t>    seed=42</a:t>
            </a:r>
            <a:endParaRPr b="1" sz="1425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" sz="1425">
                <a:solidFill>
                  <a:schemeClr val="dk1"/>
                </a:solidFill>
                <a:highlight>
                  <a:schemeClr val="accent6"/>
                </a:highlight>
              </a:rPr>
              <a:t>)</a:t>
            </a:r>
            <a:endParaRPr b="1" sz="1425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t/>
            </a:r>
            <a:endParaRPr b="1" sz="1425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" sz="1425">
                <a:solidFill>
                  <a:schemeClr val="dk1"/>
                </a:solidFill>
                <a:highlight>
                  <a:schemeClr val="accent6"/>
                </a:highlight>
              </a:rPr>
              <a:t>evaluator = MulticlassClassificationEvaluator(</a:t>
            </a:r>
            <a:endParaRPr b="1" sz="1425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" sz="1425">
                <a:solidFill>
                  <a:schemeClr val="dk1"/>
                </a:solidFill>
                <a:highlight>
                  <a:schemeClr val="accent6"/>
                </a:highlight>
              </a:rPr>
              <a:t>    labelCol="label",</a:t>
            </a:r>
            <a:endParaRPr b="1" sz="1425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" sz="1425">
                <a:solidFill>
                  <a:schemeClr val="dk1"/>
                </a:solidFill>
                <a:highlight>
                  <a:schemeClr val="accent6"/>
                </a:highlight>
              </a:rPr>
              <a:t>    predictionCol="prediction",</a:t>
            </a:r>
            <a:endParaRPr b="1" sz="1425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" sz="1425">
                <a:solidFill>
                  <a:schemeClr val="dk1"/>
                </a:solidFill>
                <a:highlight>
                  <a:schemeClr val="accent6"/>
                </a:highlight>
              </a:rPr>
              <a:t>    metricName="accuracy"</a:t>
            </a:r>
            <a:endParaRPr b="1" sz="1425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" sz="1425">
                <a:solidFill>
                  <a:schemeClr val="dk1"/>
                </a:solidFill>
                <a:highlight>
                  <a:schemeClr val="accent6"/>
                </a:highlight>
              </a:rPr>
              <a:t>)</a:t>
            </a:r>
            <a:endParaRPr b="1" sz="1425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t/>
            </a:r>
            <a:endParaRPr b="1" sz="1425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b="1" sz="1425">
              <a:solidFill>
                <a:schemeClr val="dk1"/>
              </a:solidFill>
              <a:highlight>
                <a:schemeClr val="accent6"/>
              </a:highlight>
            </a:endParaRPr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80550"/>
            <a:ext cx="2439722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4645425" y="1241925"/>
            <a:ext cx="407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chemeClr val="lt1"/>
                </a:highlight>
              </a:rPr>
              <a:t>4. Model Tuning: </a:t>
            </a:r>
            <a:endParaRPr b="1" sz="14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lt1"/>
                </a:highlight>
              </a:rPr>
              <a:t>○ Implemented CrossValidator with a ParamGrid for the smoothing parameter [0.0, 0.1, 0.5, 1.0]. </a:t>
            </a:r>
            <a:endParaRPr sz="14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400">
                <a:highlight>
                  <a:schemeClr val="lt1"/>
                </a:highlight>
              </a:rPr>
              <a:t>○ Evaluated using accuracy metric. </a:t>
            </a:r>
            <a:endParaRPr sz="1400">
              <a:highlight>
                <a:schemeClr val="lt1"/>
              </a:highlight>
            </a:endParaRPr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7799" y="2230725"/>
            <a:ext cx="5231150" cy="291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accuracy = evaluator.evaluate(predictions)</a:t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print(f"Test Set Accuracy: {accuracy:.4f}")</a:t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confusion_matrix =</a:t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predictions.groupBy("label").pivot("prediction").count().fillna(0)</a:t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print("\n--- Confusion Matrix (Actual vs Predicted) ---")</a:t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confusion_matrix.show()</a:t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lt1"/>
                </a:highlight>
              </a:rPr>
              <a:t>5 - Evaluation: </a:t>
            </a:r>
            <a:endParaRPr sz="14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highlight>
                  <a:schemeClr val="lt1"/>
                </a:highlight>
              </a:rPr>
              <a:t>○ Computed accuracy on the test dataset. </a:t>
            </a:r>
            <a:endParaRPr sz="14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highlight>
                  <a:schemeClr val="lt1"/>
                </a:highlight>
              </a:rPr>
              <a:t>○ Displayed a confusion matrix to visualize classification performance.</a:t>
            </a:r>
            <a:r>
              <a:rPr b="1" lang="en" sz="1400">
                <a:solidFill>
                  <a:schemeClr val="dk1"/>
                </a:solidFill>
                <a:highlight>
                  <a:schemeClr val="accent6"/>
                </a:highlight>
              </a:rPr>
              <a:t> </a:t>
            </a:r>
            <a:endParaRPr b="1" sz="1400">
              <a:solidFill>
                <a:schemeClr val="dk1"/>
              </a:solidFill>
              <a:highlight>
                <a:schemeClr val="accent6"/>
              </a:highlight>
            </a:endParaRPr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80550"/>
            <a:ext cx="2439722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OUTPUT :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80550"/>
            <a:ext cx="2439722" cy="7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6873" y="1366185"/>
            <a:ext cx="6563250" cy="298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11700" y="1775050"/>
            <a:ext cx="8520600" cy="27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200"/>
              <a:t>THANK YOU</a:t>
            </a:r>
            <a:endParaRPr sz="4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